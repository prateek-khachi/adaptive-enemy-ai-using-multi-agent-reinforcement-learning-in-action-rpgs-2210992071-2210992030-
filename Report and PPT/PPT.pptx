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Scripted AI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Aggressive</c:v>
                </c:pt>
                <c:pt idx="1">
                  <c:v>Defensive</c:v>
                </c:pt>
                <c:pt idx="2">
                  <c:v>Hit-and-Run</c:v>
                </c:pt>
                <c:pt idx="3">
                  <c:v>Average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28</c:v>
                </c:pt>
                <c:pt idx="2">
                  <c:v>41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82-4733-845E-9A68F22DDF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Single-Agent PPO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Aggressive</c:v>
                </c:pt>
                <c:pt idx="1">
                  <c:v>Defensive</c:v>
                </c:pt>
                <c:pt idx="2">
                  <c:v>Hit-and-Run</c:v>
                </c:pt>
                <c:pt idx="3">
                  <c:v>Average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48</c:v>
                </c:pt>
                <c:pt idx="3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82-4733-845E-9A68F22DDF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MARL (Proposed)</c:v>
                </c:pt>
              </c:strCache>
            </c:strRef>
          </c:tx>
          <c:spPr>
            <a:solidFill>
              <a:srgbClr val="CC22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Aggressive</c:v>
                </c:pt>
                <c:pt idx="1">
                  <c:v>Defensive</c:v>
                </c:pt>
                <c:pt idx="2">
                  <c:v>Hit-and-Run</c:v>
                </c:pt>
                <c:pt idx="3">
                  <c:v>Average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52</c:v>
                </c:pt>
                <c:pt idx="1">
                  <c:v>49</c:v>
                </c:pt>
                <c:pt idx="2">
                  <c:v>63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82-4733-845E-9A68F22DDF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Scripted AI</c:v>
                </c:pt>
              </c:strCache>
            </c:strRef>
          </c:tx>
          <c:spPr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152-4585-A71A-99A94F859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Single-Agent PPO</c:v>
                </c:pt>
              </c:strCache>
            </c:strRef>
          </c:tx>
          <c:spPr>
            <a:ln w="31750" cap="flat">
              <a:solidFill>
                <a:srgbClr val="5555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6.5197798568028473E-2</c:v>
                </c:pt>
                <c:pt idx="2">
                  <c:v>0.11191406262250383</c:v>
                </c:pt>
                <c:pt idx="3">
                  <c:v>0.14538772853056828</c:v>
                </c:pt>
                <c:pt idx="4">
                  <c:v>0.16937265823338285</c:v>
                </c:pt>
                <c:pt idx="5">
                  <c:v>0.18655861134736079</c:v>
                </c:pt>
                <c:pt idx="6">
                  <c:v>0.19887288485557908</c:v>
                </c:pt>
                <c:pt idx="7">
                  <c:v>0.20769644739118684</c:v>
                </c:pt>
                <c:pt idx="8">
                  <c:v>0.21401880621875566</c:v>
                </c:pt>
                <c:pt idx="9">
                  <c:v>0.2185489742753913</c:v>
                </c:pt>
                <c:pt idx="10">
                  <c:v>0.22179498153013197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152-4585-A71A-99A94F859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MARL</c:v>
                </c:pt>
              </c:strCache>
            </c:strRef>
          </c:tx>
          <c:spPr>
            <a:ln w="31750" cap="flat">
              <a:solidFill>
                <a:srgbClr val="CC222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2229"/>
              </a:solidFill>
              <a:ln w="9525" cap="flat">
                <a:solidFill>
                  <a:srgbClr val="CC2229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0.1483559792839623</c:v>
                </c:pt>
                <c:pt idx="2">
                  <c:v>0.24780196614725031</c:v>
                </c:pt>
                <c:pt idx="3">
                  <c:v>0.31446260463950909</c:v>
                </c:pt>
                <c:pt idx="4">
                  <c:v>0.3591465669024051</c:v>
                </c:pt>
                <c:pt idx="5">
                  <c:v>0.3890991225435243</c:v>
                </c:pt>
                <c:pt idx="6">
                  <c:v>0.40917692101976438</c:v>
                </c:pt>
                <c:pt idx="7">
                  <c:v>0.42263547181865196</c:v>
                </c:pt>
                <c:pt idx="8">
                  <c:v>0.43165700820973524</c:v>
                </c:pt>
                <c:pt idx="9">
                  <c:v>0.43770432489871836</c:v>
                </c:pt>
                <c:pt idx="10">
                  <c:v>0.4417579625000696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152-4585-A71A-99A94F859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Behaviors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222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1E-4102-B7E7-2DFD969B1D92}"/>
              </c:ext>
            </c:extLst>
          </c:dPt>
          <c:dPt>
            <c:idx val="1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1E-4102-B7E7-2DFD969B1D92}"/>
              </c:ext>
            </c:extLst>
          </c:dPt>
          <c:dPt>
            <c:idx val="2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1E-4102-B7E7-2DFD969B1D92}"/>
              </c:ext>
            </c:extLst>
          </c:dPt>
          <c:dPt>
            <c:idx val="3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1E-4102-B7E7-2DFD969B1D9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91E-4102-B7E7-2DFD969B1D9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1E-4102-B7E7-2DFD969B1D9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1E-4102-B7E7-2DFD969B1D9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1E-4102-B7E7-2DFD969B1D9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Flanking</c:v>
                </c:pt>
                <c:pt idx="1">
                  <c:v>Ambush</c:v>
                </c:pt>
                <c:pt idx="2">
                  <c:v>Feint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24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1E-4102-B7E7-2DFD969B1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Scripted AI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Immersion</c:v>
                </c:pt>
                <c:pt idx="1">
                  <c:v>Intelligence</c:v>
                </c:pt>
                <c:pt idx="2">
                  <c:v>Replayability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2.1</c:v>
                </c:pt>
                <c:pt idx="2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09-499F-B450-D8633F06D6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MARL System</c:v>
                </c:pt>
              </c:strCache>
            </c:strRef>
          </c:tx>
          <c:spPr>
            <a:solidFill>
              <a:srgbClr val="CC22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Immersion</c:v>
                </c:pt>
                <c:pt idx="1">
                  <c:v>Intelligence</c:v>
                </c:pt>
                <c:pt idx="2">
                  <c:v>Replayability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4.3</c:v>
                </c:pt>
                <c:pt idx="1">
                  <c:v>4.0999999999999996</c:v>
                </c:pt>
                <c:pt idx="2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09-499F-B450-D8633F06D6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7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349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20339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400" b="0" strike="noStrike" spc="-1">
                <a:latin typeface="Arial"/>
              </a:rPr>
              <a:t>Click to edit Master subtitle style</a:t>
            </a:r>
            <a:endParaRPr lang="en-GB" sz="2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59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41156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76278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01106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317871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400" b="0" strike="noStrike" spc="-1">
                <a:latin typeface="Arial"/>
              </a:rPr>
              <a:t>Click to edit Master subtitle style</a:t>
            </a:r>
            <a:endParaRPr lang="en-GB" sz="2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24582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8718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4975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2761560"/>
            <a:ext cx="822924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83163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822924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2761560"/>
            <a:ext cx="822924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3625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39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2761560"/>
            <a:ext cx="40158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0473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6855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2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39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20339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20339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276156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276156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2761560"/>
            <a:ext cx="2649600" cy="1422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5990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50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62829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5028480"/>
            <a:ext cx="9143640" cy="14823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65691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6553080" y="171450"/>
            <a:ext cx="1920600" cy="45684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6553080" y="171450"/>
            <a:ext cx="2057040" cy="47601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65691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6553080" y="171450"/>
            <a:ext cx="1920600" cy="45684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62829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5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2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028700"/>
            <a:ext cx="8229240" cy="339417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7310" lvl="0" indent="-257040">
              <a:lnSpc>
                <a:spcPct val="100000"/>
              </a:lnSpc>
              <a:spcBef>
                <a:spcPts val="4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</a:p>
          <a:p>
            <a:pPr marL="257310" lvl="1" indent="-257040">
              <a:lnSpc>
                <a:spcPct val="100000"/>
              </a:lnSpc>
              <a:spcBef>
                <a:spcPts val="4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</a:p>
          <a:p>
            <a:pPr marL="257310" lvl="2" indent="-257040">
              <a:lnSpc>
                <a:spcPct val="100000"/>
              </a:lnSpc>
              <a:spcBef>
                <a:spcPts val="4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</a:p>
          <a:p>
            <a:pPr marL="257310" lvl="3" indent="-257040">
              <a:lnSpc>
                <a:spcPct val="100000"/>
              </a:lnSpc>
              <a:spcBef>
                <a:spcPts val="4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</a:p>
          <a:p>
            <a:pPr marL="257310" lvl="4" indent="-257040">
              <a:lnSpc>
                <a:spcPct val="100000"/>
              </a:lnSpc>
              <a:spcBef>
                <a:spcPts val="4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15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9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18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9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247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1143000" y="555266"/>
            <a:ext cx="6858000" cy="403296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3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13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sz="13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spcBef>
                <a:spcPts val="300"/>
              </a:spcBef>
            </a:pPr>
            <a:r>
              <a:rPr lang="en-US" sz="15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 Enemy AI Using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Multi-Agent Reinforcement Learning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Action RPGs</a:t>
            </a:r>
            <a:endParaRPr lang="en-US" sz="3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br>
              <a:rPr lang="en-US" sz="15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5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Prateek Khachi, Parth Kaushal</a:t>
            </a:r>
          </a:p>
          <a:p>
            <a:pPr algn="ctr">
              <a:spcBef>
                <a:spcPts val="300"/>
              </a:spcBef>
            </a:pPr>
            <a:r>
              <a:rPr lang="en-US" sz="15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2210992071, 2210992030</a:t>
            </a:r>
          </a:p>
          <a:p>
            <a:pPr algn="ctr">
              <a:spcBef>
                <a:spcPts val="300"/>
              </a:spcBef>
            </a:pPr>
            <a:endParaRPr lang="en-US" sz="15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</a:pPr>
            <a:r>
              <a:rPr lang="en-US" sz="15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300"/>
              </a:spcBef>
            </a:pPr>
            <a:r>
              <a:rPr lang="en-US" sz="15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Gifty Gupta</a:t>
            </a:r>
          </a:p>
          <a:p>
            <a:pPr algn="ctr">
              <a:spcBef>
                <a:spcPts val="300"/>
              </a:spcBef>
            </a:pPr>
            <a:endParaRPr lang="en-US" sz="15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spcBef>
                <a:spcPts val="3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300"/>
              </a:spcBef>
            </a:pPr>
            <a:endParaRPr lang="en-US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481"/>
              </a:spcBef>
            </a:pPr>
            <a:endParaRPr lang="en-US" sz="1500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685800"/>
            <a:ext cx="438912" cy="45720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858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" y="731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1581912"/>
            <a:ext cx="438912" cy="45720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5819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6384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478024"/>
            <a:ext cx="438912" cy="45720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47802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86384" y="25237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(MARL / MAPPO-CTDE)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3374136"/>
            <a:ext cx="438912" cy="45720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33741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6384" y="3419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685800"/>
            <a:ext cx="438912" cy="45720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6858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66944" y="731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1581912"/>
            <a:ext cx="438912" cy="45720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15819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66944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2478024"/>
            <a:ext cx="438912" cy="45720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247802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266944" y="25237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658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932688"/>
            <a:ext cx="4114800" cy="3017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RPGs generate $15B+ in global revenue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enemy AI uses deterministic FSMs &amp; Behavior Trees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exploit repeating patterns after 5-10 encounters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rates &gt;90% achievable with minimal skill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'glass ceiling' — reduces replay value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Approaches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932688"/>
            <a:ext cx="4114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32688"/>
            <a:ext cx="54864" cy="804672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82896" y="969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82896" y="1225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Souls — simple but limited to 5-7 states (state explosion)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1847088"/>
            <a:ext cx="4114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1847088"/>
            <a:ext cx="54864" cy="804672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82896" y="1883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Trees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82896" y="21396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Witcher 3 — hierarchical but requires heavy tuning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2761488"/>
            <a:ext cx="4114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761488"/>
            <a:ext cx="54864" cy="804672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82896" y="3054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of Us — limited adaptability via weighted scores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54880" y="3675888"/>
            <a:ext cx="41148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0" y="3675888"/>
            <a:ext cx="54864" cy="804672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82896" y="3712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RL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82896" y="39684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AlphaStar — strong solo performance, no group behavior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658368"/>
            <a:ext cx="41148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658368"/>
            <a:ext cx="4114800" cy="27432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932688"/>
            <a:ext cx="4114800" cy="15544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FSMs and Behavior Trees are static and exploitable. Utility-based AI offers limited adaptability. All deterministic methods suffer from the 'state explosion' problem.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658368"/>
            <a:ext cx="41148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Emergence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09160" y="932688"/>
            <a:ext cx="4114800" cy="15544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and policy gradient methods (PPO, SAC) enabled adaptive agents. AlphaStar &amp; OpenAI Five achieved superhuman performance in real-time strategy games via MARL.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688336"/>
            <a:ext cx="41148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688336"/>
            <a:ext cx="4114800" cy="27432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 Advances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2962656"/>
            <a:ext cx="4114800" cy="15544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PPO (MAPPO) enabled stable training of 27 agents. Frameworks like Gymnasium, Unity ML-Agents, and Stable Baselines3 simplified MARL integration.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688336"/>
            <a:ext cx="41148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2688336"/>
            <a:ext cx="4114800" cy="27432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09160" y="2962656"/>
            <a:ext cx="4114800" cy="15544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benchmarks for small-scale RPG combat (3-5 agents). Evaluations lack KL divergence, entropy metrics, and human-centric assessment. Real-time deployment rarely tested.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Methodology: MARL Framework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 + Centralized Training with Decentralized Execution (CTDE)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" y="1051560"/>
            <a:ext cx="2834640" cy="292608"/>
          </a:xfrm>
          <a:prstGeom prst="rect">
            <a:avLst/>
          </a:prstGeom>
          <a:solidFill>
            <a:srgbClr val="1C5282"/>
          </a:solidFill>
          <a:ln w="12700">
            <a:solidFill>
              <a:srgbClr val="1C52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051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(IaaS)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8600" y="1344168"/>
            <a:ext cx="2834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3464" y="1371600"/>
            <a:ext cx="2724912" cy="8595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 GPU · Google Colab · AWS cloud for large-scale parallel training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72968" y="1051560"/>
            <a:ext cx="2834640" cy="29260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72968" y="1051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(PaaS)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72968" y="1344168"/>
            <a:ext cx="2834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371600"/>
            <a:ext cx="2724912" cy="8595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· Unity ML-Agents · Stable Baselines3 · PyTorch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17336" y="1051560"/>
            <a:ext cx="2834640" cy="2926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17336" y="1051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(SaaS)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17336" y="1344168"/>
            <a:ext cx="2834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1371600"/>
            <a:ext cx="2724912" cy="8595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policies deployed in Unity / Unreal Engine — 60 FPS real-time gameplay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CTDE Works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2697480"/>
            <a:ext cx="1554480" cy="74980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" y="2990088"/>
            <a:ext cx="1554480" cy="457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Critic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State)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901952" y="2743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3712464" y="2697480"/>
            <a:ext cx="1554480" cy="74980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12464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12464" y="2990088"/>
            <a:ext cx="1554480" cy="457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Clipped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40096" y="2743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7150608" y="2697480"/>
            <a:ext cx="1554480" cy="74980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50608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50608" y="2990088"/>
            <a:ext cx="1554480" cy="457200"/>
          </a:xfrm>
          <a:prstGeom prst="rect">
            <a:avLst/>
          </a:prstGeom>
          <a:noFill/>
          <a:ln/>
        </p:spPr>
        <p:txBody>
          <a:bodyPr wrap="square" lIns="12700" tIns="25400" rIns="25400" bIns="127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Obs Only)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74320" y="3547872"/>
            <a:ext cx="8595360" cy="10972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100×100 unit 2D arena · 3-5 enemy agents · 34-dim state space · Discrete action space (6 actions)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Damage output + Team coordination + Survival + Entropy penalty (anti-exploit)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1M timesteps · NVIDIA T4 GPU · ~4.2 hours · 3 player strategy profiles (aggressive, defensive, hit-and-run)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658368"/>
            <a:ext cx="2743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658368"/>
            <a:ext cx="2743200" cy="329184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024128"/>
            <a:ext cx="2560320" cy="1417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2D combat environment (100×100 unit arena).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RL interface.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658368"/>
            <a:ext cx="2743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658368"/>
            <a:ext cx="2743200" cy="329184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1024128"/>
            <a:ext cx="2560320" cy="1417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 integration for real-time policy deployment in Unity scenes.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658368"/>
            <a:ext cx="2743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658368"/>
            <a:ext cx="2743200" cy="329184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Baselines3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0" y="1024128"/>
            <a:ext cx="2560320" cy="1417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PPO/MAPPO algorithm implementations — modular and reliable.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2651760"/>
            <a:ext cx="2743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2651760"/>
            <a:ext cx="2743200" cy="329184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3017520"/>
            <a:ext cx="2560320" cy="1417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Actor/critic neural networks. Dynamic computation graph, GPU support.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0" y="2651760"/>
            <a:ext cx="2743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0" y="2651760"/>
            <a:ext cx="2743200" cy="329184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 GPU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91840" y="3017520"/>
            <a:ext cx="2560320" cy="1417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training via Google Colab. Pay-per-use infrastructure.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26480" y="2651760"/>
            <a:ext cx="2743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26480" y="2651760"/>
            <a:ext cx="2743200" cy="329184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217920" y="3017520"/>
            <a:ext cx="2560320" cy="1417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scripting, data logging, result visualization.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658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Network (per agent)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932688"/>
            <a:ext cx="4114800" cy="21031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34-dim local observation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fully connected network (ReLU)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256 hidden units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softmax over 6 discrete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independently at execution time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3090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Critic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3364992"/>
            <a:ext cx="4114800" cy="1554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Concatenated global state (all agents)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3-layer architecture as actor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Scalar value function estimate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during training, not deployment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63440" y="658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Hyperparameters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206240" cy="304495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10⁻⁴ (linear decay)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Parameter (ε)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Factor (γ)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GAE Lambda (λ)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Update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112062"/>
            <a:ext cx="33959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Win Rate Performance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64008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5806440" y="658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806440" y="1005840"/>
            <a:ext cx="1920240" cy="100584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0644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580644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 avg win rate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806440" y="2103120"/>
            <a:ext cx="1920240" cy="100584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06440" y="2148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806440" y="2724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scripted AI baseline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06440" y="3200400"/>
            <a:ext cx="1920240" cy="100584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5806440" y="3822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single-agent PPO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06440" y="4315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 in Hit-and-Run (63%) — strategy hardest for scripted AI to counter.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Adaptation Speed &amp; Emergent Behaviors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640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Speed (KL Divergence)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32688"/>
          <a:ext cx="48463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986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 achieves KL = 0.45 vs 0.23 (Single PPO) — 28% faster adaptation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03520" y="640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Cooperative Behaviors</a:t>
            </a:r>
            <a:endParaRPr lang="en-US" sz="12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5303520" y="914400"/>
          <a:ext cx="37490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7"/>
          <p:cNvSpPr/>
          <p:nvPr/>
        </p:nvSpPr>
        <p:spPr>
          <a:xfrm>
            <a:off x="5303520" y="3547872"/>
            <a:ext cx="3749040" cy="548640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03520" y="3547872"/>
            <a:ext cx="3749040" cy="5486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behaviors observed in 65% of gameplay sessions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303520" y="41513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Flanking · Ambush · Feint — never explicitly programmed; emerged from reward structure alone.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Human Evaluation &amp; Ablation Study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640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(Likert 1–5)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48463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986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immersion 4.3/5 · Intelligence 4.1/5 · Replayability 4.5/5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03520" y="640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14400"/>
          <a:ext cx="3749040" cy="2377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Win Rate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Emergent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MARL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Coordination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Critic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Entropy Pen.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303520" y="3429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 entropy = high diversity but exploitable by players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303520" y="3822192"/>
            <a:ext cx="37490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321808" y="3840480"/>
            <a:ext cx="3712464" cy="457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is the most critical component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penalty trades diversity for robustness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731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640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932688"/>
            <a:ext cx="4114800" cy="35661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 (MAPPO-CTDE) outperforms scripted and single-agent baselines across all metrics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improvement in win rate over scripted AI baseline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faster adaptation speed measured via KL divergence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cooperative tactics (flanking, ambush, feint) observed in 65% of sessions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evaluation: 4.3/5 immersion, 4.1/5 intelligence, 4.5/5 replayability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feasible: 16ms inference — compatible with 60 FPS gameplay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indie developers via Gymnasium, Unity ML-Agents, Stable Baselines3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3440" y="640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932688"/>
            <a:ext cx="4206240" cy="17830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simplified 2D combat — no terrain or vertical interactions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3-5 agents — coordination may degrade at larger scales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 hours GPU training time per iteration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narrative awareness for immersive RPG storytelling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63440" y="27432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3017520"/>
            <a:ext cx="4206240" cy="182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3D environments with realistic terrain &amp; physics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MARL for tactical + strategic decision layers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Narrative-aware reward functions aligned with story context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 for progressive difficulty scaling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Online/federated learning for post-deployment adaptation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C2229"/>
          </a:solidFill>
          <a:ln w="12700">
            <a:solidFill>
              <a:srgbClr val="CC222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03920" y="4828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02311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C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tka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itkara" id="{B90C0393-129D-48C6-AC5D-0B0CFE556CDF}" vid="{3B81D35D-CACB-4AF3-A668-A69C653921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1022</Words>
  <Application>Microsoft Office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chitkara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Enemy AI Using MARL in Action RPGs</dc:title>
  <dc:subject>PptxGenJS Presentation</dc:subject>
  <dc:creator>Prateek Khachi &amp; Parth Kaushal</dc:creator>
  <cp:lastModifiedBy>Prateek Khachi</cp:lastModifiedBy>
  <cp:revision>4</cp:revision>
  <dcterms:created xsi:type="dcterms:W3CDTF">2026-05-15T18:28:16Z</dcterms:created>
  <dcterms:modified xsi:type="dcterms:W3CDTF">2026-05-17T11:51:31Z</dcterms:modified>
</cp:coreProperties>
</file>